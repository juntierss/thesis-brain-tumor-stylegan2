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Explainable Brain Tumor Classification</a:t>
            </a:r>
            <a:br/>
            <a:r>
              <a:t>via Generation Using Conditional</a:t>
            </a:r>
            <a:br/>
            <a:r>
              <a:t>StyleGANs and 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BCCDD"/>
                </a:solidFill>
                <a:latin typeface="Calibri"/>
              </a:defRPr>
            </a:pPr>
            <a:r>
              <a:t>Thesis for Master's in Data Science &amp; Industrial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Junwei He Mai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Advisor: Juan Velasquez Silva  |  Co-advisor: Yong Zhang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Committee: Ingeborg Lopez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Universidad de Chile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Calibri"/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 Motivation &amp; Problem Statement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 Research Questions &amp; Hypotheses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 Methodology &amp; Dataset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 Experiment 1: Image Generation (StyleGAN-C)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 Experiment 2A-2B: Classification by Generation &amp; Latent Analysis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6.  Experiment 2C: Synthetic Augmentation (Main Experiment)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7.  Experiment 3: Explainability &amp; HITL Evaluation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8.  Key Results &amp; State of the Art Comparison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9.  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Calibri"/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Brain tumors (glioma, meningioma, pituitary) are a major health issue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MRI-based classification using deep learning shows promise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Three key challenges: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Most published studies suffer from patient-level data leakage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-&gt; Same patient's slices appear in train AND test sets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-&gt; Inflates accuracy by ~3 percentage points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Limited labeled medical imaging data available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Clinical adoption requires explainable, trustworthy models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This thesis addresses all three challenges with a unified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Data Leakage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Calibri"/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What is patient-level data leakage?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Each patient has multiple MRI slices (axial, sagittal, coronal)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Image-level splits allow correlated slices in train AND test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Model memorizes patient anatomy instead of learning tumor features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Impact demonstrated in this thesis: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4114800"/>
          <a:ext cx="914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 Control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 images 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Calibri"/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RQ1: How can the quality and clinical plausibility of synthetic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        MRI images generated by conditional StyleGAN be measured?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RQ2: How does StyleGAN-based classification (via inversion and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        augmentation) compare to conventional CNN classifiers?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RQ3: Can Grad-CAM XAI improve expert diagnostic confidence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        on synthetic images?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Calibri"/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H1:   StyleGAN-C generates diagnostically useful synthetic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      brain MRI images (measurable via FID, CAS, and HITL)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H2A: Latent inversion with StyleGAN enables non-trivial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      tumor classification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H2B: Synthetic augmentation statistically improves CNN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      classification metrics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H3:   Grad-CAM heatmaps increase neuroradiologist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      diagnostic confidence on synthetic 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Overall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459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  <a:br/>
            <a:r>
              <a:t>(Figshare)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148840"/>
            <a:ext cx="18288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06039" y="1828800"/>
            <a:ext cx="16459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StyleGAN-C</a:t>
            </a:r>
            <a:br/>
            <a:r>
              <a:t>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97679" y="2148840"/>
            <a:ext cx="18288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164592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Synthetic</a:t>
            </a:r>
            <a:br/>
            <a:r>
              <a:t>Generation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72200" y="2148840"/>
            <a:ext cx="18288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79" y="1828800"/>
            <a:ext cx="164592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CNN</a:t>
            </a:r>
            <a:br/>
            <a:r>
              <a:t>Classification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46719" y="2148840"/>
            <a:ext cx="18288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164592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Grad-CAM</a:t>
            </a:r>
            <a:br/>
            <a:r>
              <a:t>XAI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21240" y="2148840"/>
            <a:ext cx="18288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04120" y="1828800"/>
            <a:ext cx="164592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HITL</a:t>
            </a:r>
            <a:br/>
            <a: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Experiment mapping: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Exp 1: Image Generation  |  Exp 2A: Inference by Generation  |  Exp 2B: Latent Inversion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Exp 2C: Synthetic Augmentation (main)  |  Exp 3: XAI + HITL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All experiments enforce strict patient-level data leakage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Figshare brain tumor dataset (Jun Cheng)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3,064 MRI images across 3 classes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Patient-wise 70/30 stratified split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Two dataset variants: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Complete: all images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Reduced: ~25% fewer, higher quality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840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Glioma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Meningioma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Pituitary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3,064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2,153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911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Key design decisions: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Patient-disjoint splits prevent leakage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No patient appears in both train and test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Resolution: 256 x 256 pixels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Grayscale MRI slices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Preprocessing: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Content-aware cropping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Percentile normalization (1st-99th)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Padding to square aspect ratio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StyleGAN-C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Conditional StyleGAN2-ADA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Class label embedded in mapping network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Generates tumor-specific images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Adaptive Discriminator Augmentation (ADA)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Prevents discriminator overfitting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Critical for small medical datasets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Truncation trick (psi)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Controls diversity vs quality trade-off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Optimal range: psi = [1.2, 1.4]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Training details: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GPU: NVIDIA A100 (48 GB)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Batch size: 32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Resolution: 256 x 256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11 training runs tested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Model architecture: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Generator: ~24M parameters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Discriminator: ~24M parameters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14 W-space layers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Mapping network: 8 FC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1 Results: Generation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Can you tell which is real vs synthetic? (See Figure 5.4 in thesis)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FID (Frechet Inception Distance) = 46.08  —  Lower is better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7432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(Year)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Proposed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StyleGAN-C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256x256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 et al. (2020)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TumorGAN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256x256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77.43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Zuo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Diffusion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256x256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Guven et al. (2023)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SSimDCL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256x256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92.36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Fetty et al. (2019)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StyleGAN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512x512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13.00*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* Fetty et al. trained for &gt;1 month, potential overfitting risk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Our model achieves the best FID among comparable conditional generators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1 Results: Classification Accuracy Score (CAS)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 = 0.923  (first application to brain tumor MRI)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What is CAS?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Train a classifier ONLY on synthetic images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Test on real images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Measures functional utility, not just visual quality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Why CAS matters: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FID measures distribution similarity (visual)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CAS measures diagnostic utility (functional)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92.3% of synthetic images correctly classified = class information preserved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Optimal truncation: psi in [1.2, 1.4] balances diversity and fidelity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2A: Classification by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Approach: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Invert real MRI into latent space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Generate counterfactual trajectories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(what would this glioma look like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as a meningioma?)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Classify by perceptual distance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Counterfactual videos: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120 frames per class transition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Preserve brain anatomy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Show how tumor appearance evolves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Visual explainability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Results (patient-level):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LPIPS-based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Key insight: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Latent space encodes tumor information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Classification by generation is feasible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But CNN is more accurate and efficient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Value: interpretability, not replacement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2B: Latent Space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Three feature extractors compared with SVM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860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SVM 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PCA Var. (3 PCs)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Supervised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0.947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Most compact, best separation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 ResNet-50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2,048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~72%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Good but less structured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E4E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Tumor signal diluted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Key insight: More compact representations = better classification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The supervised encoder learns tumor-specific features in a structured 512-dim space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E4E captures general visual attributes — tumor class signal is diluted across 7,168 dims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PCA confirms: train and test occupy similar regions (no distribution shift)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2C: Synthetic Augmentation (Main Experiment)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Experimental design: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ResNet-50 classifier with K-Fold cross-validation (3-fold, 5-fold)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Compare: real-only baseline vs real + synthetic (GAN-balanced)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Same random seeds across all runs for fair comparison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Multiple truncation values tested: psi = {1.0, 1.1, 1.2, 1.3, 1.4, 1.5}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Ensemble aggregation of K-Fold models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Evaluation: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Accuracy, Precision, Recall, F1 (macro &amp; weighted)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Negative Log-Likelihood (NLL) for calibration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McNemar test for statistical significance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Three ablation studies to validate findings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2C Results: Classification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Ensemble results (5-fold cross-validation):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Precision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Real-only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psi=1.4 ensemble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Real-only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psi=1.3 ensemble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Consistent improvement across both datasets and all metrics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All three tumor classes benefit from augmentation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Pituitary: easiest class | Glioma-Meningioma: most confused pair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Best result: 0.960 accuracy on reduced dataset with psi=1.3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2C: Ablation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 CAS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(synthetic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 synthetic images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carry class information?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 = 0.923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Yes, 92% correctly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 Oversampling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 improvement just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from class balancing?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Oversample: 0.934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GAN: 0.960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No, GAN adds real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variability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 Weak vs Strong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geometric aug.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achieve the same?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Weak: 0.932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Strong: 0.959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GAN: 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provides small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additional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Key takeaways: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GAN augmentation goes beyond simple class balancing (+2.6% over oversampling)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Strong geometric augmentation captures most of the improvement (0.959)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GAN provides a small but consistent additional benefit (0.960)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The generator introduces meaningful visual variability beyond standard transforms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2C: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McNemar Test (slice-level):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Single-run vs Ensemble: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Significant (p &lt; 0.05)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Real-only vs GAN ensemble: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NOT significant (p &gt; 0.05)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-&gt; Same error profile, refined boundaries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Key insight: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Accuracy difference is modest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Main benefit is in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NLL t-test (calibration):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1031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Significant?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Global (reduced)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Pituitary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4.73e-5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Meningioma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Glioma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0.8748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After Bonferroni correction (alpha=0.0125):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Global and Pituitary remain significant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GAN-augmented model is more calibrated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= more reliable probability estimates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2C: Data Leakage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Deliberate leakage experiment to quantify the impact: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56032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Leak 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 Control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 (mean 5-fold)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 (ensemble)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 images only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augmented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Without patient control, accuracy inflates by ~3 percentage points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Most published papers do NOT enforce patient-level control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Our 0.960 with control is more clinically meaningful than 0.985 without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Grad-CAM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Grad-CAM (Gradient-weighted Class Activation Mapping)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Highlights which image regions drive the classifier's decision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Applied to final convolutional layer of ResNet-50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Purpose: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Make black-box CNN decisions interpretable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Help clinicians verify that model focuses on tumor region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Bridge gap between AI performance and clinical trust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Evaluation: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Heatmaps overlaid on both real and synthetic MRI images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Neuroradiologist rates: correctness of highlighted region</a:t>
            </a:r>
          </a:p>
          <a:p>
            <a:pPr lvl="1"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Categories: Yes (full / partial) or 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HITL 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Pilot feasibility study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Participants: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 neuroradiologist (blinded)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Sample: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33 images total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15 real + 18 synthetic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Random presentation order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Protocol: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Expert does NOT know if real or fake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Half images paired with Grad-CAM overlay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45-60 minute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Expert rates each image on: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Tumor diagnosis (class prediction)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Confidence (1-5 Likert scale)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Diagnostic utility (1-5 Likert scale)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XAI correctness (yes/partial/no)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Novelty: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First HITL evaluation in brain tumor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classification combining synthetic image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assessment with XAI evaluation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Note: pilot study — results 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indicative, not conclusive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3 Results: Image Quality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Confidence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Utility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Synthetic (all)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2.11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Synthetic (answered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Fake glioma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Fake meningioma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Fake pituitary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Expert is conservative: only diagnoses when confident (50% -&gt; 90% when filtering)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Pituitary synthetics rated highest (closest to real image quality)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Meningioma synthetics rated lowest (hardest to generate convincingly)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~50% of synthetic images are diagnostically useful for the expert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 3 Results: Grad-CAM Impact on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Utility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With XAI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Without XAI (all)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2.47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Synthetic + 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Synthetic - no XAI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Grad-CAM doubles confidence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on synthetic images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Confidence: 1.44 -&gt; 3.00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 (+108% increase)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Utility: 1.22 -&gt; 3.00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 (+146% increase)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When Grad-CAM correctly highlights the tumor: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Accuracy = 100%, Confidence = 4.33/5, Utility = 4.33/5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When Grad-CAM misses the tumor: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Accuracy = 33%, Confidence = 2.33/5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Note: Small sample sizes (n=3-9 per group) — pilot study results are indicative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of 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FID (generation quality)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Best among comparable conditional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 (functional utility)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First application to brain tumors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Best accuracy (with patient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Surpasses SOTA with leakage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NLL improvement (reduced, global)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 = 0.0065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Statistically significant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NLL improvement (pituitary)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 = 4.73e-5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Highly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HITL confidence increase (synthetic+XAI)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1.44 -&gt; 3.00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+108% with Grad-CAM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Supervised encoder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Best feature extraction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Oversampling vs GAN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0.934 vs 0.960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GAN adds meaningful variability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Leakage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Critical methodological finding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Comparison with 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8016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(Year)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 Control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Cheng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Figshare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Abiwinanda (2018)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Figshare Subset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94.7%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Deepak (2019)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 +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Figshare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Rehman (2019)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VGG16 TL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Figshare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94.6%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Tummala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Ensemble ViTs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Figshare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Proposed Model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StyleGAN-C + CNN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Figshare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Only 3 multiclass studies on Figshare enforce patient-level control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Our model (0.960) outperforms ALL studies with patient control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Studies without control (NR) report higher but inflated metrics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NR = Not Reported  |  Patient control is essential for fair comparison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Hypothesis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Hypothesis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H1: StyleGAN-C generates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diagnostically useful MRI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Partially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FID=46.08, CAS=0.923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But only 50% useful for expert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(pituitary best, meningioma worst)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H2A: Latent inversion enables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non-trivial classification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Fully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CNN: 0.838, e4e: 0.832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Both well above chance (0.33)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H2B: Synthetic augmentation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improves CNN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Fully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0.953 -&gt; 0.960 accuracy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NLL p=0.0065 (significant)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H3: Grad-CAM increases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diagnostic confidence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Partially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Confidence: 1.44 -&gt; 3.00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 synthetic images (+108%)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effect on real (already 100%)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Strengths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End-to-end framework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(generation -&gt; classification -&gt; XAI -&gt; HITL)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Strict patient-level leakage control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throughout ALL experiments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First HITL pilot in brain tumor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classification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CAS metric introduced for brain tumors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Statistical validation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(McNemar, NLL t-tests, Bonferroni)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Single dataset (Figshare)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No external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HITL: 1 expert, 33 images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Pilot study only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Modest accuracy improvement (+0.7%)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Main benefit in calibration (NLL)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50% synthetic images non-diagnostic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Need curation/filtering pipeline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256x256 resolution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1. StyleGAN-C generates class-conditional MRI images with FID = 46.08 and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CAS = 0.923 — useful for machine learning, partially useful for experts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2. CNN classifier with strict leakage control achieves 0.960 accuracy,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surpassing all comparable SOTA with patient-level control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3. Main benefit of synthetic augmentation: improved probabilistic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calibration (NLL), not just raw accuracy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4. Grad-CAM doubles expert confidence on synthetic images (+108%),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making difficult images interpretable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5. Data leakage control is essential: without it, metrics inflate by ~3%.</a:t>
            </a:r>
          </a:p>
          <a:p>
            <a:pPr>
              <a:spcAft>
                <a:spcPts val="600"/>
              </a:spcAft>
              <a:defRPr sz="2100">
                <a:solidFill>
                  <a:srgbClr val="333333"/>
                </a:solidFill>
                <a:latin typeface="Calibri"/>
              </a:defRPr>
            </a:pPr>
            <a:r>
              <a:t>   Most literature does not enforce this.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Universidad de Chile | Junwei He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Short-term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Multi-center external validation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(different scanners, populations)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Larger HITL study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(multiple radiologists, more images)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Synthetic image curation pipeline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(automated quality filtering)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Post-hoc calibration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(temperature scaling for ECE)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Long-term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3D / tri-planar models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(axial + sagittal + coronal fusion)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Diffusion models as alternative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to StyleGAN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Higher resolution (512x512)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Multimodal fusion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(clinical metadata + imaging)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Calibri"/>
              </a:defRPr>
            </a:pP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More disentangled latent spaces</a:t>
            </a:r>
          </a:p>
          <a:p>
            <a:pPr lvl="1">
              <a:spcAft>
                <a:spcPts val="6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(edit tumor without changing brain)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defRPr sz="3600">
                <a:solidFill>
                  <a:srgbClr val="BBCCDD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Junwei He Mai</a:t>
            </a:r>
          </a:p>
          <a:p>
            <a:pPr algn="ctr">
              <a:defRPr sz="1800">
                <a:solidFill>
                  <a:srgbClr val="BBCCDD"/>
                </a:solidFill>
                <a:latin typeface="Calibri"/>
              </a:defRPr>
            </a:pPr>
            <a:r>
              <a:t>github.com/JunTierSS/thesis-brain-tumor-stylegan2</a:t>
            </a:r>
          </a:p>
          <a:p>
            <a:pPr>
              <a:defRPr sz="1200"/>
            </a:pPr>
          </a:p>
          <a:p>
            <a:pPr algn="ctr">
              <a:defRPr sz="280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